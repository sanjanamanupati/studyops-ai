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159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04B2C4"/>
          </a:solidFill>
          <a:ln w="12700">
            <a:solidFill>
              <a:srgbClr val="04B2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822960"/>
            <a:ext cx="100584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4B2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229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🧠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148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StudyOps AI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Study Decision System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71229"/>
          </a:solidFill>
          <a:ln w="12700">
            <a:solidFill>
              <a:srgbClr val="0712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72744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Training Project  |  LangChain  ·  Groq Llama 3  ·  DuckDuckGo  ·  Telegram Bot API</a:t>
            </a:r>
            <a:endParaRPr 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241CF5-4B8E-FFCF-9A25-28EBD5E10FDF}"/>
              </a:ext>
            </a:extLst>
          </p:cNvPr>
          <p:cNvSpPr txBox="1"/>
          <p:nvPr/>
        </p:nvSpPr>
        <p:spPr>
          <a:xfrm>
            <a:off x="274320" y="3154680"/>
            <a:ext cx="5749290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i="0" dirty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Student Name:</a:t>
            </a:r>
            <a:r>
              <a:rPr lang="en-US" b="0" i="0" dirty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M. Sanjana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Roll number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: 24071A67H3</a:t>
            </a:r>
          </a:p>
          <a:p>
            <a:pPr>
              <a:lnSpc>
                <a:spcPct val="150000"/>
              </a:lnSpc>
            </a:pPr>
            <a:r>
              <a:rPr lang="en-US" b="1" i="0" dirty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Course:</a:t>
            </a:r>
            <a:r>
              <a:rPr lang="en-US" b="0" i="0" dirty="0"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 B. Tech Computer Science</a:t>
            </a:r>
            <a:br>
              <a:rPr lang="en-US" dirty="0">
                <a:solidFill>
                  <a:schemeClr val="bg1">
                    <a:lumMod val="95000"/>
                  </a:schemeClr>
                </a:solidFill>
              </a:rPr>
            </a:b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560320" cy="1828800"/>
          </a:xfrm>
          <a:prstGeom prst="rect">
            <a:avLst/>
          </a:prstGeom>
          <a:solidFill>
            <a:srgbClr val="F96167">
              <a:alpha val="15000"/>
            </a:srgbClr>
          </a:solidFill>
          <a:ln w="19050">
            <a:solidFill>
              <a:srgbClr val="F9616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601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students don't have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E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study plan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914400"/>
            <a:ext cx="1828800" cy="1828800"/>
          </a:xfrm>
          <a:prstGeom prst="rect">
            <a:avLst/>
          </a:prstGeom>
          <a:solidFill>
            <a:srgbClr val="112244"/>
          </a:solidFill>
          <a:ln w="6350">
            <a:solidFill>
              <a:srgbClr val="8899B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9875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❓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46120" y="1508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priority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8745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study random topics instead of their weakest areas first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84648" y="914400"/>
            <a:ext cx="1828800" cy="1828800"/>
          </a:xfrm>
          <a:prstGeom prst="rect">
            <a:avLst/>
          </a:prstGeom>
          <a:solidFill>
            <a:srgbClr val="112244"/>
          </a:solidFill>
          <a:ln w="6350">
            <a:solidFill>
              <a:srgbClr val="8899B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84648" y="9875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⏰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184648" y="1508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time planning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76088" y="18745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 = hours wasted on low-impact topics before exam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23176" y="914400"/>
            <a:ext cx="1828800" cy="1828800"/>
          </a:xfrm>
          <a:prstGeom prst="rect">
            <a:avLst/>
          </a:prstGeom>
          <a:solidFill>
            <a:srgbClr val="112244"/>
          </a:solidFill>
          <a:ln w="6350">
            <a:solidFill>
              <a:srgbClr val="8899B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23176" y="9875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123176" y="1508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answers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214616" y="18745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gives one-size-fits-all text — not a personalized action plan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944368"/>
            <a:ext cx="8412480" cy="475488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96265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8EF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decision problem — not an information problem. Students need a system that THINKS, not just answers.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04B2C4"/>
          </a:solidFill>
          <a:ln w="12700">
            <a:solidFill>
              <a:srgbClr val="04B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— Agentic AI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one AI answering everything, we use specialized agents — each doing one job, handing results to the next.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1965960" cy="2377440"/>
          </a:xfrm>
          <a:prstGeom prst="rect">
            <a:avLst/>
          </a:prstGeom>
          <a:solidFill>
            <a:srgbClr val="112244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89888"/>
            <a:ext cx="19659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8988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176479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11480" y="23317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 Agent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724912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weak topics, urgency &amp; difficulty scores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0" y="2578608"/>
            <a:ext cx="182880" cy="0"/>
          </a:xfrm>
          <a:prstGeom prst="line">
            <a:avLst/>
          </a:prstGeom>
          <a:noFill/>
          <a:ln w="25400">
            <a:solidFill>
              <a:srgbClr val="04B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58568" y="2487168"/>
            <a:ext cx="21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B2C4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468880" y="1389888"/>
            <a:ext cx="1965960" cy="2377440"/>
          </a:xfrm>
          <a:prstGeom prst="rect">
            <a:avLst/>
          </a:prstGeom>
          <a:solidFill>
            <a:srgbClr val="112244"/>
          </a:solidFill>
          <a:ln w="19050">
            <a:solidFill>
              <a:srgbClr val="5B5E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8880" y="1389888"/>
            <a:ext cx="1965960" cy="34747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138988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68880" y="176479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560320" y="23317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Builder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60320" y="2724912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analyzer output → builds day-by-day timetable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34840" y="2578608"/>
            <a:ext cx="182880" cy="0"/>
          </a:xfrm>
          <a:prstGeom prst="line">
            <a:avLst/>
          </a:prstGeom>
          <a:noFill/>
          <a:ln w="25400">
            <a:solidFill>
              <a:srgbClr val="04B2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7408" y="2487168"/>
            <a:ext cx="21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B2C4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617720" y="1389888"/>
            <a:ext cx="1965960" cy="2377440"/>
          </a:xfrm>
          <a:prstGeom prst="rect">
            <a:avLst/>
          </a:prstGeom>
          <a:solidFill>
            <a:srgbClr val="112244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17720" y="1389888"/>
            <a:ext cx="19659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138988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17720" y="176479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709160" y="23317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Finder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09160" y="2724912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DuckDuckGo live search — finds free resources, no API key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583680" y="2578608"/>
            <a:ext cx="182880" cy="0"/>
          </a:xfrm>
          <a:prstGeom prst="line">
            <a:avLst/>
          </a:prstGeom>
          <a:noFill/>
          <a:ln w="25400">
            <a:solidFill>
              <a:srgbClr val="04B2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56248" y="2487168"/>
            <a:ext cx="210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B2C4"/>
                </a:solidFill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766560" y="1389888"/>
            <a:ext cx="1965960" cy="2377440"/>
          </a:xfrm>
          <a:prstGeom prst="rect">
            <a:avLst/>
          </a:prstGeom>
          <a:solidFill>
            <a:srgbClr val="112244"/>
          </a:solidFill>
          <a:ln w="19050">
            <a:solidFill>
              <a:srgbClr val="F4A6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66560" y="1389888"/>
            <a:ext cx="1965960" cy="347472"/>
          </a:xfrm>
          <a:prstGeom prst="rect">
            <a:avLst/>
          </a:prstGeom>
          <a:solidFill>
            <a:srgbClr val="F4A62A"/>
          </a:solidFill>
          <a:ln w="12700">
            <a:solidFill>
              <a:srgbClr val="F4A6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138988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66560" y="176479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858000" y="23317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Notifier Agent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58000" y="2724912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complete plan to Telegram — real-world action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" y="3950208"/>
            <a:ext cx="8503920" cy="402336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968496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PATTERN — each agent's output becomes the next agent's input. This is the core of Agentic AI.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7B7EC0"/>
          </a:solidFill>
          <a:ln w="12700">
            <a:solidFill>
              <a:srgbClr val="7B7E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5486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64344F43-B203-4791-E426-CA6354842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603504"/>
            <a:ext cx="5474994" cy="4485132"/>
          </a:xfrm>
          <a:prstGeom prst="rect">
            <a:avLst/>
          </a:prstGeom>
        </p:spPr>
      </p:pic>
      <p:sp>
        <p:nvSpPr>
          <p:cNvPr id="48" name="Oval 47">
            <a:extLst>
              <a:ext uri="{FF2B5EF4-FFF2-40B4-BE49-F238E27FC236}">
                <a16:creationId xmlns:a16="http://schemas.microsoft.com/office/drawing/2014/main" id="{49EEFF97-4DD4-D8C2-4912-3AF897837F2A}"/>
              </a:ext>
            </a:extLst>
          </p:cNvPr>
          <p:cNvSpPr/>
          <p:nvPr/>
        </p:nvSpPr>
        <p:spPr>
          <a:xfrm>
            <a:off x="5186334" y="4616196"/>
            <a:ext cx="554540" cy="4114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9A532D-11F9-72A7-911B-F7C8EE3F0E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4178" y="658368"/>
            <a:ext cx="3221503" cy="354787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32D0848-FA05-0A5C-51A9-6315A15C4055}"/>
              </a:ext>
            </a:extLst>
          </p:cNvPr>
          <p:cNvSpPr/>
          <p:nvPr/>
        </p:nvSpPr>
        <p:spPr>
          <a:xfrm>
            <a:off x="6056142" y="4261104"/>
            <a:ext cx="2637692" cy="65836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n8n Workflow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04B2C4"/>
          </a:solidFill>
          <a:ln w="12700">
            <a:solidFill>
              <a:srgbClr val="04B2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— 100% Free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949440" y="137160"/>
            <a:ext cx="192024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4B2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49440" y="1371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₹0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47472" y="1005840"/>
            <a:ext cx="4160520" cy="1115568"/>
          </a:xfrm>
          <a:prstGeom prst="rect">
            <a:avLst/>
          </a:prstGeom>
          <a:solidFill>
            <a:srgbClr val="112244"/>
          </a:solidFill>
          <a:ln w="6350">
            <a:solidFill>
              <a:srgbClr val="8899B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8912" y="120700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10972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(Llama 3)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4447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LLM powering all agents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67328" y="1133856"/>
            <a:ext cx="621792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67328" y="1133856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7472" y="2286000"/>
            <a:ext cx="4160520" cy="1115568"/>
          </a:xfrm>
          <a:prstGeom prst="rect">
            <a:avLst/>
          </a:prstGeom>
          <a:solidFill>
            <a:srgbClr val="112244"/>
          </a:solidFill>
          <a:ln w="6350">
            <a:solidFill>
              <a:srgbClr val="8899B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8912" y="248716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7280" y="23774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272491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orchestration, prompt templates, handoffs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67328" y="2414016"/>
            <a:ext cx="621792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67328" y="2414016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47472" y="3566160"/>
            <a:ext cx="4160520" cy="1115568"/>
          </a:xfrm>
          <a:prstGeom prst="rect">
            <a:avLst/>
          </a:prstGeom>
          <a:solidFill>
            <a:srgbClr val="112244"/>
          </a:solidFill>
          <a:ln w="6350">
            <a:solidFill>
              <a:srgbClr val="8899B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8912" y="376732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97280" y="36576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40050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and monitoring every agent call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767328" y="3694176"/>
            <a:ext cx="621792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67328" y="3694176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782312" y="1005840"/>
            <a:ext cx="4160520" cy="1115568"/>
          </a:xfrm>
          <a:prstGeom prst="rect">
            <a:avLst/>
          </a:prstGeom>
          <a:solidFill>
            <a:srgbClr val="112244"/>
          </a:solidFill>
          <a:ln w="6350">
            <a:solidFill>
              <a:srgbClr val="8899B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73752" y="120700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532120" y="10972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DuckDuckGo Search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32120" y="14447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search — no API key required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202168" y="1133856"/>
            <a:ext cx="621792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02168" y="1133856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82312" y="2286000"/>
            <a:ext cx="4160520" cy="1115568"/>
          </a:xfrm>
          <a:prstGeom prst="rect">
            <a:avLst/>
          </a:prstGeom>
          <a:solidFill>
            <a:srgbClr val="112244"/>
          </a:solidFill>
          <a:ln w="6350">
            <a:solidFill>
              <a:srgbClr val="8899B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73752" y="248716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532120" y="23774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 API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32120" y="272491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notification to student's phone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202168" y="2414016"/>
            <a:ext cx="621792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02168" y="2414016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82312" y="3566160"/>
            <a:ext cx="4160520" cy="1115568"/>
          </a:xfrm>
          <a:prstGeom prst="rect">
            <a:avLst/>
          </a:prstGeom>
          <a:solidFill>
            <a:srgbClr val="112244"/>
          </a:solidFill>
          <a:ln w="6350">
            <a:solidFill>
              <a:srgbClr val="8899B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73752" y="376732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5532120" y="36576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532120" y="40050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for the application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202168" y="3694176"/>
            <a:ext cx="621792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02168" y="3694176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62A"/>
          </a:solidFill>
          <a:ln w="12700">
            <a:solidFill>
              <a:srgbClr val="F4A6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F4B84A"/>
          </a:solidFill>
          <a:ln w="12700">
            <a:solidFill>
              <a:srgbClr val="F4B8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7472" y="868680"/>
            <a:ext cx="4114800" cy="3200400"/>
          </a:xfrm>
          <a:prstGeom prst="rect">
            <a:avLst/>
          </a:prstGeom>
          <a:solidFill>
            <a:srgbClr val="112244"/>
          </a:solidFill>
          <a:ln w="12700">
            <a:solidFill>
              <a:srgbClr val="8899B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86868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REPLACE WITH SCREENSHOT ]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Input Screen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" y="41330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Screen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81728" y="868680"/>
            <a:ext cx="4114800" cy="3200400"/>
          </a:xfrm>
          <a:prstGeom prst="rect">
            <a:avLst/>
          </a:prstGeom>
          <a:solidFill>
            <a:srgbClr val="112244"/>
          </a:solidFill>
          <a:ln w="12700">
            <a:solidFill>
              <a:srgbClr val="8899B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81728" y="86868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REPLACE WITH SCREENSHOT ]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+ Schedule Output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81728" y="41330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Output Tabs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4498848"/>
            <a:ext cx="8449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Live demo follows</a:t>
            </a:r>
            <a:endParaRPr lang="en-US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AF8F176-BE4C-AC27-9610-4C89D7392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79" y="868680"/>
            <a:ext cx="4114800" cy="3200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DEC9CF0-663D-D411-7A8E-56DE88F68D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423" y="868680"/>
            <a:ext cx="4152077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7B7EC0"/>
          </a:solidFill>
          <a:ln w="12700">
            <a:solidFill>
              <a:srgbClr val="7B7E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4160520" cy="1645920"/>
          </a:xfrm>
          <a:prstGeom prst="rect">
            <a:avLst/>
          </a:prstGeom>
          <a:solidFill>
            <a:srgbClr val="112244"/>
          </a:solidFill>
          <a:ln w="12700">
            <a:solidFill>
              <a:srgbClr val="5B5E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60120"/>
            <a:ext cx="4160520" cy="320040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9601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HuggingFace Hosting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344168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HuggingFace Spaces — publicly accessible, still free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82312" y="960120"/>
            <a:ext cx="4160520" cy="1645920"/>
          </a:xfrm>
          <a:prstGeom prst="rect">
            <a:avLst/>
          </a:prstGeom>
          <a:solidFill>
            <a:srgbClr val="112244"/>
          </a:solidFill>
          <a:ln w="12700">
            <a:solidFill>
              <a:srgbClr val="5B5E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82312" y="960120"/>
            <a:ext cx="4160520" cy="320040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9601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N8N Workflow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9472" y="1344168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daily reminders via N8N self-hosted automation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" y="2834640"/>
            <a:ext cx="4160520" cy="1645920"/>
          </a:xfrm>
          <a:prstGeom prst="rect">
            <a:avLst/>
          </a:prstGeom>
          <a:solidFill>
            <a:srgbClr val="112244"/>
          </a:solidFill>
          <a:ln w="12700">
            <a:solidFill>
              <a:srgbClr val="5B5E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" y="2834640"/>
            <a:ext cx="4160520" cy="320040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83464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MCP + Google Calendar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" y="3218688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integration to push generated schedule into student's calendar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82312" y="2834640"/>
            <a:ext cx="4160520" cy="1645920"/>
          </a:xfrm>
          <a:prstGeom prst="rect">
            <a:avLst/>
          </a:prstGeom>
          <a:solidFill>
            <a:srgbClr val="112244"/>
          </a:solidFill>
          <a:ln w="12700">
            <a:solidFill>
              <a:srgbClr val="5B5E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82312" y="2834640"/>
            <a:ext cx="4160520" cy="320040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83464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Persistent Memory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19472" y="3218688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memory so system learns from past study sessions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2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86200" y="6400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</a:rPr>
              <a:t>🧠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StudyOps AI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an AI that answers —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system that thinks.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0" y="3063240"/>
            <a:ext cx="27432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3337560"/>
            <a:ext cx="2560320" cy="347472"/>
          </a:xfrm>
          <a:prstGeom prst="rect">
            <a:avLst/>
          </a:prstGeom>
          <a:solidFill>
            <a:srgbClr val="112244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3375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4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3337560"/>
            <a:ext cx="2560320" cy="347472"/>
          </a:xfrm>
          <a:prstGeom prst="rect">
            <a:avLst/>
          </a:prstGeom>
          <a:solidFill>
            <a:srgbClr val="112244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33375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4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 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3337560"/>
            <a:ext cx="2560320" cy="347472"/>
          </a:xfrm>
          <a:prstGeom prst="rect">
            <a:avLst/>
          </a:prstGeom>
          <a:solidFill>
            <a:srgbClr val="112244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33375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4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DuckDuckGo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840480"/>
            <a:ext cx="2560320" cy="347472"/>
          </a:xfrm>
          <a:prstGeom prst="rect">
            <a:avLst/>
          </a:prstGeom>
          <a:solidFill>
            <a:srgbClr val="112244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8404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4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3840480"/>
            <a:ext cx="2560320" cy="347472"/>
          </a:xfrm>
          <a:prstGeom prst="rect">
            <a:avLst/>
          </a:prstGeom>
          <a:solidFill>
            <a:srgbClr val="112244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38404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4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3840480"/>
            <a:ext cx="2560320" cy="347472"/>
          </a:xfrm>
          <a:prstGeom prst="rect">
            <a:avLst/>
          </a:prstGeom>
          <a:solidFill>
            <a:srgbClr val="112244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38404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4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411</Words>
  <Application>Microsoft Office PowerPoint</Application>
  <PresentationFormat>On-screen Show (16:9)</PresentationFormat>
  <Paragraphs>107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StudyOps AI</dc:title>
  <dc:subject>PptxGenJS Presentation</dc:subject>
  <dc:creator>PptxGenJS</dc:creator>
  <cp:lastModifiedBy>Sanjana Manupati</cp:lastModifiedBy>
  <cp:revision>3</cp:revision>
  <dcterms:created xsi:type="dcterms:W3CDTF">2026-04-10T02:29:26Z</dcterms:created>
  <dcterms:modified xsi:type="dcterms:W3CDTF">2026-04-10T05:12:42Z</dcterms:modified>
</cp:coreProperties>
</file>